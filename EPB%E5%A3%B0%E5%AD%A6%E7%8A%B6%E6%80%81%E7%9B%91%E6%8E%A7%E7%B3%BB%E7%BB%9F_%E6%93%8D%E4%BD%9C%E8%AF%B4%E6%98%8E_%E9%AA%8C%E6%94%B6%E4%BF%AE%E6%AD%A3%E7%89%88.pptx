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94944"/>
            <a:ext cx="109728" cy="594360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" y="1033272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EPB 声学状态监控系统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4128" y="18928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24128" y="2816352"/>
            <a:ext cx="10104120" cy="0"/>
          </a:xfrm>
          <a:prstGeom prst="line">
            <a:avLst/>
          </a:prstGeom>
          <a:noFill/>
          <a:ln w="13970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3182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正常模型建立</a:t>
            </a:r>
            <a:endParaRPr lang="en-US" sz="1830" dirty="0"/>
          </a:p>
        </p:txBody>
      </p:sp>
      <p:sp>
        <p:nvSpPr>
          <p:cNvPr id="7" name="Text 5"/>
          <p:cNvSpPr/>
          <p:nvPr/>
        </p:nvSpPr>
        <p:spPr>
          <a:xfrm>
            <a:off x="1024128" y="365760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声音捕捉 → 样本采集 → 模型训练 → 上线验证</a:t>
            </a:r>
            <a:endParaRPr lang="en-US" sz="1930" dirty="0"/>
          </a:p>
        </p:txBody>
      </p:sp>
      <p:sp>
        <p:nvSpPr>
          <p:cNvPr id="8" name="Text 6"/>
          <p:cNvSpPr/>
          <p:nvPr/>
        </p:nvSpPr>
        <p:spPr>
          <a:xfrm>
            <a:off x="1024128" y="4581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830" dirty="0"/>
          </a:p>
        </p:txBody>
      </p:sp>
      <p:sp>
        <p:nvSpPr>
          <p:cNvPr id="9" name="Text 7"/>
          <p:cNvSpPr/>
          <p:nvPr/>
        </p:nvSpPr>
        <p:spPr>
          <a:xfrm>
            <a:off x="1024128" y="5056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运行设置 → 状态判断 → 趋势与记录</a:t>
            </a:r>
            <a:endParaRPr lang="en-US" sz="1930" dirty="0"/>
          </a:p>
        </p:txBody>
      </p:sp>
      <p:sp>
        <p:nvSpPr>
          <p:cNvPr id="10" name="Text 8"/>
          <p:cNvSpPr/>
          <p:nvPr/>
        </p:nvSpPr>
        <p:spPr>
          <a:xfrm>
            <a:off x="10460736" y="64190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流程概览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47672"/>
            <a:ext cx="1874520" cy="2651760"/>
          </a:xfrm>
          <a:prstGeom prst="roundRect">
            <a:avLst>
              <a:gd name="adj" fmla="val 1951"/>
            </a:avLst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671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4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卡钳动作信号捕捉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1508760" cy="0"/>
          </a:xfrm>
          <a:prstGeom prst="line">
            <a:avLst/>
          </a:prstGeom>
          <a:noFill/>
          <a:ln w="1143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7588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确定声音采集的触发时刻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2505456" y="29535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98648" y="1947672"/>
            <a:ext cx="1874520" cy="2651760"/>
          </a:xfrm>
          <a:prstGeom prst="roundRect">
            <a:avLst>
              <a:gd name="adj" fmla="val 1951"/>
            </a:avLst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1671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40" dirty="0"/>
          </a:p>
        </p:txBody>
      </p:sp>
      <p:sp>
        <p:nvSpPr>
          <p:cNvPr id="15" name="Text 13"/>
          <p:cNvSpPr/>
          <p:nvPr/>
        </p:nvSpPr>
        <p:spPr>
          <a:xfrm>
            <a:off x="3063240" y="267004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采集正常样本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63240" y="3538728"/>
            <a:ext cx="1508760" cy="0"/>
          </a:xfrm>
          <a:prstGeom prst="line">
            <a:avLst/>
          </a:prstGeom>
          <a:noFill/>
          <a:ln w="1143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367588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补充正常工况的数据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4837176" y="29535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30368" y="1947672"/>
            <a:ext cx="1874520" cy="2651760"/>
          </a:xfrm>
          <a:prstGeom prst="roundRect">
            <a:avLst>
              <a:gd name="adj" fmla="val 1951"/>
            </a:avLst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1671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40" dirty="0"/>
          </a:p>
        </p:txBody>
      </p:sp>
      <p:sp>
        <p:nvSpPr>
          <p:cNvPr id="21" name="Text 19"/>
          <p:cNvSpPr/>
          <p:nvPr/>
        </p:nvSpPr>
        <p:spPr>
          <a:xfrm>
            <a:off x="5394960" y="267004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94960" y="3538728"/>
            <a:ext cx="1508760" cy="0"/>
          </a:xfrm>
          <a:prstGeom prst="line">
            <a:avLst/>
          </a:prstGeom>
          <a:noFill/>
          <a:ln w="11430">
            <a:solidFill>
              <a:srgbClr val="D7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67588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建立正常声音参考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168896" y="29535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62088" y="1947672"/>
            <a:ext cx="1874520" cy="2651760"/>
          </a:xfrm>
          <a:prstGeom prst="roundRect">
            <a:avLst>
              <a:gd name="adj" fmla="val 1951"/>
            </a:avLst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1671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40" dirty="0"/>
          </a:p>
        </p:txBody>
      </p:sp>
      <p:sp>
        <p:nvSpPr>
          <p:cNvPr id="27" name="Text 25"/>
          <p:cNvSpPr/>
          <p:nvPr/>
        </p:nvSpPr>
        <p:spPr>
          <a:xfrm>
            <a:off x="7726680" y="267004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上线前验证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726680" y="3538728"/>
            <a:ext cx="1508760" cy="0"/>
          </a:xfrm>
          <a:prstGeom prst="line">
            <a:avLst/>
          </a:prstGeom>
          <a:noFill/>
          <a:ln w="11430">
            <a:solidFill>
              <a:srgbClr val="D7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367588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用新的正常循环检查模型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9500616" y="29535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93808" y="1947672"/>
            <a:ext cx="1874520" cy="2651760"/>
          </a:xfrm>
          <a:prstGeom prst="roundRect">
            <a:avLst>
              <a:gd name="adj" fmla="val 1951"/>
            </a:avLst>
          </a:prstGeom>
          <a:solidFill>
            <a:srgbClr val="E9F3F4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21671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40" dirty="0"/>
          </a:p>
        </p:txBody>
      </p:sp>
      <p:sp>
        <p:nvSpPr>
          <p:cNvPr id="33" name="Text 31"/>
          <p:cNvSpPr/>
          <p:nvPr/>
        </p:nvSpPr>
        <p:spPr>
          <a:xfrm>
            <a:off x="10058400" y="267004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开始监控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58400" y="3538728"/>
            <a:ext cx="1508760" cy="0"/>
          </a:xfrm>
          <a:prstGeom prst="line">
            <a:avLst/>
          </a:prstGeom>
          <a:noFill/>
          <a:ln w="11430">
            <a:solidFill>
              <a:srgbClr val="D7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367588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按循环自动判断与记录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594360" y="5138928"/>
            <a:ext cx="11009376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5266944"/>
            <a:ext cx="10479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各阶段按顺序进行。首次标定完成后，可根据正常样本数量决定是否继续采集；候选模型必须先完成上线前验证。</a:t>
            </a:r>
            <a:endParaRPr lang="en-US" sz="14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启动软件与选择工作目录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工作目录用于保存本次试验的录音、模型与运行记录。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进入“正常模型建立”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0936" y="1828800"/>
            <a:ext cx="2487168" cy="379476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0" name="Image 0" descr="/mnt/data/epb_ppt_assets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234507"/>
            <a:ext cx="2487168" cy="29833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6796" y="2517140"/>
            <a:ext cx="2104044" cy="29519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7924" y="239826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924" y="240284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47288" y="1508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选择或创建工作目录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3401568" y="1920240"/>
            <a:ext cx="4279392" cy="3054096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6" name="Image 1" descr="/mnt/data/epb_ppt_assets/work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947939"/>
            <a:ext cx="4279392" cy="299869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57750" y="2806941"/>
            <a:ext cx="3912364" cy="80433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38878" y="2688069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38878" y="2692641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88987" y="3962689"/>
            <a:ext cx="3904555" cy="78091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70115" y="3843817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0115" y="3848389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65576" y="5129784"/>
            <a:ext cx="4114800" cy="64008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21024" y="5230368"/>
            <a:ext cx="3776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新建目录仅输入后缀；程序自动添加“工作日志-test”。</a:t>
            </a:r>
            <a:endParaRPr lang="en-US" sz="1280" dirty="0"/>
          </a:p>
        </p:txBody>
      </p:sp>
      <p:sp>
        <p:nvSpPr>
          <p:cNvPr id="25" name="Shape 21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区分不同试验的数据，避免混用模型与录音。</a:t>
            </a:r>
            <a:endParaRPr lang="en-US" sz="1540" dirty="0"/>
          </a:p>
        </p:txBody>
      </p:sp>
      <p:sp>
        <p:nvSpPr>
          <p:cNvPr id="28" name="Shape 24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启动软件，选择“正常模型建立”。</a:t>
            </a:r>
            <a:endParaRPr lang="en-US" sz="1420" dirty="0"/>
          </a:p>
        </p:txBody>
      </p:sp>
      <p:sp>
        <p:nvSpPr>
          <p:cNvPr id="32" name="Text 28"/>
          <p:cNvSpPr/>
          <p:nvPr/>
        </p:nvSpPr>
        <p:spPr>
          <a:xfrm>
            <a:off x="8540496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878824" y="3959352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已有试验选原目录；新试验输入新名称并创建。</a:t>
            </a:r>
            <a:endParaRPr lang="en-US" sz="1420" dirty="0"/>
          </a:p>
        </p:txBody>
      </p:sp>
      <p:sp>
        <p:nvSpPr>
          <p:cNvPr id="34" name="Shape 30"/>
          <p:cNvSpPr/>
          <p:nvPr/>
        </p:nvSpPr>
        <p:spPr>
          <a:xfrm>
            <a:off x="8540496" y="496519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540496" y="5074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36" name="Text 32"/>
          <p:cNvSpPr/>
          <p:nvPr/>
        </p:nvSpPr>
        <p:spPr>
          <a:xfrm>
            <a:off x="8540496" y="5358384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进入“正常模型建立”主界面。</a:t>
            </a:r>
            <a:endParaRPr lang="en-US" sz="1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正常模型建立：采集设置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标定、正常采集与上线前验证共用声音输入和捕捉时序。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35608"/>
            <a:ext cx="7498080" cy="3950208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05" y="1435608"/>
            <a:ext cx="7435686" cy="39502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05517" y="2384432"/>
            <a:ext cx="3911480" cy="20912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645" y="2265560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645" y="227013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1562" y="2380560"/>
            <a:ext cx="2889074" cy="21300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2690" y="226168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2690" y="226626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97772" y="3809606"/>
            <a:ext cx="584786" cy="18201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8900" y="3690734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8900" y="369530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" y="54772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界面上方参数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965960" y="5449824"/>
            <a:ext cx="5934456" cy="68580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21" name="Image 1" descr="/mnt/data/epb_ppt_assets/start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5592827"/>
            <a:ext cx="5934456" cy="3997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确定声音来源与每次录音的时间范围。</a:t>
            </a:r>
            <a:endParaRPr lang="en-US" sz="1540" dirty="0"/>
          </a:p>
        </p:txBody>
      </p:sp>
      <p:sp>
        <p:nvSpPr>
          <p:cNvPr id="25" name="Shape 21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选择接入台架的声音输入设备。</a:t>
            </a:r>
            <a:endParaRPr lang="en-US" sz="1420" dirty="0"/>
          </a:p>
        </p:txBody>
      </p:sp>
      <p:sp>
        <p:nvSpPr>
          <p:cNvPr id="29" name="Text 25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核对三个时间参数的含义及设置值。</a:t>
            </a:r>
            <a:endParaRPr lang="en-US" sz="1420" dirty="0"/>
          </a:p>
        </p:txBody>
      </p:sp>
      <p:sp>
        <p:nvSpPr>
          <p:cNvPr id="31" name="Text 27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点击“开始触发标定”。</a:t>
            </a:r>
            <a:endParaRPr lang="en-US" sz="1420" dirty="0"/>
          </a:p>
        </p:txBody>
      </p:sp>
      <p:sp>
        <p:nvSpPr>
          <p:cNvPr id="33" name="Shape 29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35" name="Text 31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进入声音触发初始化阶段。</a:t>
            </a:r>
            <a:endParaRPr lang="en-US" sz="1460" dirty="0"/>
          </a:p>
        </p:txBody>
      </p:sp>
      <p:sp>
        <p:nvSpPr>
          <p:cNvPr id="36" name="Text 32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 后等待：触发后延迟开始录音；采集时长：每个循环的录音长度；冷却：完成采集后暂停触发的时间。单位均为秒。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阶段一｜初始化声音触发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目的：从背景噪声中识别卡钳动作，为后续录音确定触发时刻。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72184"/>
            <a:ext cx="7461504" cy="3264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bootstrap_png_0_0_1920_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1046"/>
            <a:ext cx="7461504" cy="31866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9453" y="2871216"/>
            <a:ext cx="3023464" cy="48966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581" y="2752344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581" y="275691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937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当前工作状态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874520" y="4901184"/>
            <a:ext cx="5943600" cy="12618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bootstrap_st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2398" y="4901184"/>
            <a:ext cx="5287845" cy="12618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自动观察背景声与卡钳动作声的差异。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保持台架正常运行，软件先连续观察 60 秒。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秒内仅分析声音，不触发采集，也不计正式循环。</a:t>
            </a:r>
            <a:endParaRPr lang="en-US" sz="1420" dirty="0"/>
          </a:p>
        </p:txBody>
      </p:sp>
      <p:sp>
        <p:nvSpPr>
          <p:cNvPr id="25" name="Text 21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若背景与动作声音不易区分，软件会继续观察。</a:t>
            </a:r>
            <a:endParaRPr lang="en-US" sz="1420" dirty="0"/>
          </a:p>
        </p:txBody>
      </p:sp>
      <p:sp>
        <p:nvSpPr>
          <p:cNvPr id="27" name="Shape 23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9" name="Text 25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显示已建立初始触发阈值，并进入正式循环学习。</a:t>
            </a:r>
            <a:endParaRPr lang="en-US" sz="1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阶段一｜学习 15 个完整循环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初始化结束后，系统按实际卡钳动作自动捕捉完整采集循环。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72184"/>
            <a:ext cx="7461504" cy="3264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learning_png_0_0_1920_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1046"/>
            <a:ext cx="7461504" cy="31866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7794" y="2890647"/>
            <a:ext cx="3050667" cy="66842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8922" y="2771775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922" y="2776347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937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实时学习进度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874520" y="4901184"/>
            <a:ext cx="5943600" cy="12618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learning_st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2398" y="4901184"/>
            <a:ext cx="5287845" cy="12618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确认声音触发及录音时序能稳定工作。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保持台架正常运行。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观察“学习中 x/15 个完整循环”。</a:t>
            </a:r>
            <a:endParaRPr lang="en-US" sz="1420" dirty="0"/>
          </a:p>
        </p:txBody>
      </p:sp>
      <p:sp>
        <p:nvSpPr>
          <p:cNvPr id="25" name="Text 21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等待系统自动记录满 15 个完整循环。</a:t>
            </a:r>
            <a:endParaRPr lang="en-US" sz="1420" dirty="0"/>
          </a:p>
        </p:txBody>
      </p:sp>
      <p:sp>
        <p:nvSpPr>
          <p:cNvPr id="27" name="Shape 23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9" name="Text 25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进度达到 15/15，标定自动完成。</a:t>
            </a:r>
            <a:endParaRPr lang="en-US" sz="1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阶段一｜声音捕捉配置完成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建立后续采集共用的声音捕捉配置，并自动生成首批正常录音。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72184"/>
            <a:ext cx="7461504" cy="3264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profile_done_png_0_0_1920_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1046"/>
            <a:ext cx="7461504" cy="31866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7794" y="2894533"/>
            <a:ext cx="3062326" cy="69563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8922" y="2775661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922" y="2780233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937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配置与正常样本结果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874520" y="4901184"/>
            <a:ext cx="5943600" cy="12618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profile_st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7340" y="4901184"/>
            <a:ext cx="5237959" cy="12618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保存触发参数和已经捕捉到的正常声音。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确认界面显示“标定完成：15/15”。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959352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查看正常样本计数与日志中的保存结果。</a:t>
            </a:r>
            <a:endParaRPr lang="en-US" sz="1420" dirty="0"/>
          </a:p>
        </p:txBody>
      </p:sp>
      <p:sp>
        <p:nvSpPr>
          <p:cNvPr id="25" name="Shape 21"/>
          <p:cNvSpPr/>
          <p:nvPr/>
        </p:nvSpPr>
        <p:spPr>
          <a:xfrm>
            <a:off x="8540496" y="496519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0496" y="5074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540496" y="5358384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15 个完整 WAV，作为当前模型的正常训练样本。</a:t>
            </a:r>
            <a:endParaRPr lang="en-US" sz="1460" dirty="0"/>
          </a:p>
        </p:txBody>
      </p:sp>
      <p:sp>
        <p:nvSpPr>
          <p:cNvPr id="28" name="Text 24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标定产生的 15 条录音无需再次采集；临时长录音会在正常完成后删除。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阶段二｜补充正常样本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仅需正常运行声音。若标定所得样本已足够训练，可以直接进入阶段三。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63040"/>
            <a:ext cx="7470648" cy="324612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collec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360" y="1463040"/>
            <a:ext cx="6110344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18488" y="2322576"/>
            <a:ext cx="512064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99616" y="221284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99616" y="22174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53767" y="3397982"/>
            <a:ext cx="451911" cy="17821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34895" y="3279110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34895" y="328368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892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采集停止后的示例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1773936" y="4928616"/>
            <a:ext cx="6181344" cy="112471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8" name="Image 1" descr="/mnt/data/epb_ppt_assets/collected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25" y="4928616"/>
            <a:ext cx="3927566" cy="112471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增加正常样本数量，扩大实际正常工况覆盖。</a:t>
            </a:r>
            <a:endParaRPr lang="en-US" sz="1540" dirty="0"/>
          </a:p>
        </p:txBody>
      </p:sp>
      <p:sp>
        <p:nvSpPr>
          <p:cNvPr id="22" name="Shape 18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在“本次采集目标”填写本轮计划新增的条数。</a:t>
            </a:r>
            <a:endParaRPr lang="en-US" sz="1420" dirty="0"/>
          </a:p>
        </p:txBody>
      </p:sp>
      <p:sp>
        <p:nvSpPr>
          <p:cNvPr id="26" name="Text 22"/>
          <p:cNvSpPr/>
          <p:nvPr/>
        </p:nvSpPr>
        <p:spPr>
          <a:xfrm>
            <a:off x="8540496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878824" y="3959352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点击“开始采集正常样本”。达到目标自动停止；未填写目标时，点击“停止当前任务”结束采集。</a:t>
            </a:r>
            <a:endParaRPr lang="en-US" sz="1420" dirty="0"/>
          </a:p>
        </p:txBody>
      </p:sp>
      <p:sp>
        <p:nvSpPr>
          <p:cNvPr id="28" name="Shape 24"/>
          <p:cNvSpPr/>
          <p:nvPr/>
        </p:nvSpPr>
        <p:spPr>
          <a:xfrm>
            <a:off x="8540496" y="496519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0496" y="5074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8540496" y="5358384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正常样本计数增加，状态提示可训练候选。</a:t>
            </a:r>
            <a:endParaRPr lang="en-US" sz="1460" dirty="0"/>
          </a:p>
        </p:txBody>
      </p:sp>
      <p:sp>
        <p:nvSpPr>
          <p:cNvPr id="31" name="Text 27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示例累计 24 条，其中 15 条来自第一阶段；“200”不是固定要求。</a:t>
            </a:r>
            <a:endParaRPr lang="en-US" sz="10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阶段三｜训练候选模型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使用当前工作目录下的正常录音建立判定参考。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90472"/>
            <a:ext cx="7461504" cy="388620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col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90472"/>
            <a:ext cx="7315200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70710" y="3810762"/>
            <a:ext cx="742950" cy="1981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1838" y="3691890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1838" y="369646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486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训练完成示例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874520" y="5449824"/>
            <a:ext cx="5971032" cy="795528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verified_st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904" y="5449824"/>
            <a:ext cx="2744263" cy="7955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建立正常声音参考与状态、瞬态两类判定阈值。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确认正常样本采集已结束。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点击“训练候选模型”；程序自动检查录音并分组训练。</a:t>
            </a:r>
            <a:endParaRPr lang="en-US" sz="1420" dirty="0"/>
          </a:p>
        </p:txBody>
      </p:sp>
      <p:sp>
        <p:nvSpPr>
          <p:cNvPr id="25" name="Text 21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等待候选模型训练完成。</a:t>
            </a:r>
            <a:endParaRPr lang="en-US" sz="1420" dirty="0"/>
          </a:p>
        </p:txBody>
      </p:sp>
      <p:sp>
        <p:nvSpPr>
          <p:cNvPr id="27" name="Shape 23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9" name="Text 25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界面显示“已训练”和参考、校准样本数量。</a:t>
            </a:r>
            <a:endParaRPr lang="en-US" sz="1460" dirty="0"/>
          </a:p>
        </p:txBody>
      </p:sp>
      <p:sp>
        <p:nvSpPr>
          <p:cNvPr id="30" name="Text 26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截图示例为参考 12 条、校准 12 条；实际数量取决于本轮样本。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阶段四｜上线前验证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使用新的正常运行循环，检查候选模型是否适合当前台架。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72184"/>
            <a:ext cx="7461504" cy="3264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verified_png_0_0_1920_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1046"/>
            <a:ext cx="7461504" cy="31866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16911" y="3873856"/>
            <a:ext cx="738378" cy="21374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98039" y="3754984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98039" y="375955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937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验证结果汇总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874520" y="4901184"/>
            <a:ext cx="5943600" cy="12618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verified_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6579" y="4901184"/>
            <a:ext cx="5739482" cy="12618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在正式监控前检查误判和处理错误。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保持台架正常运行，点击“开始上线前验证”。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7673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749039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采集新的正常循环后，点击“停止当前任务”，等待任务结束。</a:t>
            </a:r>
            <a:endParaRPr lang="en-US" sz="1420" dirty="0"/>
          </a:p>
        </p:txBody>
      </p:sp>
      <p:sp>
        <p:nvSpPr>
          <p:cNvPr id="25" name="Shape 21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0496" y="5394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540496" y="5660136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至少有验证样本；异常 0、处理错误 0。关注允许存在。</a:t>
            </a:r>
            <a:endParaRPr lang="en-US" sz="1460" dirty="0"/>
          </a:p>
        </p:txBody>
      </p:sp>
      <p:sp>
        <p:nvSpPr>
          <p:cNvPr id="28" name="Text 24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截图为 3 条正常、0 关注、0 异常、0 处理错误；3 条不是固定要求。</a:t>
            </a:r>
            <a:endParaRPr lang="en-US" sz="1070" dirty="0"/>
          </a:p>
        </p:txBody>
      </p:sp>
      <p:sp>
        <p:nvSpPr>
          <p:cNvPr id="23" name="Text 19"/>
          <p:cNvSpPr/>
          <p:nvPr/>
        </p:nvSpPr>
        <p:spPr>
          <a:xfrm>
            <a:off x="8540496" y="45354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4517136"/>
            <a:ext cx="2569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核对正常、关注、异常及处理错误数量。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确认上线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→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验证符合条件后，才能将候选模型更新为正式模型。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44752"/>
            <a:ext cx="7452360" cy="411480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8737"/>
            <a:ext cx="7452360" cy="39668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95095" y="3886414"/>
            <a:ext cx="562808" cy="15137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76223" y="3767542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76223" y="3772114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6509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确认窗口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2148840" y="5522976"/>
            <a:ext cx="4462272" cy="73152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5" name="Image 1" descr="/mnt/data/epb_ppt_assets/confirm_di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992" y="5522976"/>
            <a:ext cx="1267968" cy="7315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确定后续监控所使用的正式模型。</a:t>
            </a:r>
            <a:endParaRPr lang="en-US" sz="1540" dirty="0"/>
          </a:p>
        </p:txBody>
      </p:sp>
      <p:sp>
        <p:nvSpPr>
          <p:cNvPr id="19" name="Shape 15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检查上线前验证结果。</a:t>
            </a:r>
            <a:endParaRPr lang="en-US" sz="1420" dirty="0"/>
          </a:p>
        </p:txBody>
      </p:sp>
      <p:sp>
        <p:nvSpPr>
          <p:cNvPr id="23" name="Text 19"/>
          <p:cNvSpPr/>
          <p:nvPr/>
        </p:nvSpPr>
        <p:spPr>
          <a:xfrm>
            <a:off x="8540496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78824" y="3959352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点击“确认上线”，在弹窗中选择“是”。</a:t>
            </a:r>
            <a:endParaRPr lang="en-US" sz="1420" dirty="0"/>
          </a:p>
        </p:txBody>
      </p:sp>
      <p:sp>
        <p:nvSpPr>
          <p:cNvPr id="25" name="Shape 21"/>
          <p:cNvSpPr/>
          <p:nvPr/>
        </p:nvSpPr>
        <p:spPr>
          <a:xfrm>
            <a:off x="8540496" y="496519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0496" y="5074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540496" y="5358384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状态显示“候选已上线；可进入实时监控”。</a:t>
            </a:r>
            <a:endParaRPr lang="en-US" sz="1460" dirty="0"/>
          </a:p>
        </p:txBody>
      </p:sp>
      <p:sp>
        <p:nvSpPr>
          <p:cNvPr id="28" name="Text 24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原有正式模型如存在，会按程序逻辑备份。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阶段五｜进入实时监控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05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正式模型建立完成后，进入独立的监控页面。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472184"/>
            <a:ext cx="7461504" cy="32644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promoted_png_0_0_1920_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1046"/>
            <a:ext cx="7461504" cy="31866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2686" y="3889400"/>
            <a:ext cx="602361" cy="1943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83814" y="377052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83814" y="377510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6704" y="3368650"/>
            <a:ext cx="3085643" cy="23317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832" y="324977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832" y="325435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937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当前工作状态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1874520" y="4901184"/>
            <a:ext cx="5943600" cy="12618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8" name="Image 1" descr="/mnt/data/epb_ppt_assets/promoted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111" y="4901184"/>
            <a:ext cx="4222418" cy="126187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切换到连续采集、判断与记录的运行界面。</a:t>
            </a:r>
            <a:endParaRPr lang="en-US" sz="1540" dirty="0"/>
          </a:p>
        </p:txBody>
      </p:sp>
      <p:sp>
        <p:nvSpPr>
          <p:cNvPr id="22" name="Shape 18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878824" y="3063240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确认当前状态为“候选已上线”。</a:t>
            </a:r>
            <a:endParaRPr lang="en-US" sz="1420" dirty="0"/>
          </a:p>
        </p:txBody>
      </p:sp>
      <p:sp>
        <p:nvSpPr>
          <p:cNvPr id="26" name="Text 22"/>
          <p:cNvSpPr/>
          <p:nvPr/>
        </p:nvSpPr>
        <p:spPr>
          <a:xfrm>
            <a:off x="8540496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878824" y="3959352"/>
            <a:ext cx="2569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点击“进入实时监控”。</a:t>
            </a:r>
            <a:endParaRPr lang="en-US" sz="1420" dirty="0"/>
          </a:p>
        </p:txBody>
      </p:sp>
      <p:sp>
        <p:nvSpPr>
          <p:cNvPr id="28" name="Shape 24"/>
          <p:cNvSpPr/>
          <p:nvPr/>
        </p:nvSpPr>
        <p:spPr>
          <a:xfrm>
            <a:off x="8540496" y="496519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0496" y="5074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8540496" y="5358384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打开“EPB 声学状态监控”页面。</a:t>
            </a:r>
            <a:endParaRPr lang="en-US" sz="1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实时监控｜运行设置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运行设置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启动前核对音频输入、续接统计、起始循环号和录音保存间隔。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435608"/>
            <a:ext cx="3685032" cy="466344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monitor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54298"/>
            <a:ext cx="3685032" cy="462605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78479" y="1723163"/>
            <a:ext cx="2190459" cy="3242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59607" y="1604291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59607" y="1608863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71388" y="2197631"/>
            <a:ext cx="3313366" cy="640531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2516" y="2078759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2516" y="2083331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50466" y="3708020"/>
            <a:ext cx="1534112" cy="3163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1594" y="358914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1594" y="35937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81728" y="1517904"/>
            <a:ext cx="3291840" cy="4498848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18013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主要设置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928616" y="2231136"/>
            <a:ext cx="2660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声音输入设备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4928616" y="25420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选择接入麦克风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4928616" y="3163824"/>
            <a:ext cx="2660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续接上次统计</a:t>
            </a:r>
            <a:endParaRPr lang="en-US" sz="1410" dirty="0"/>
          </a:p>
        </p:txBody>
      </p:sp>
      <p:sp>
        <p:nvSpPr>
          <p:cNvPr id="24" name="Text 21"/>
          <p:cNvSpPr/>
          <p:nvPr/>
        </p:nvSpPr>
        <p:spPr>
          <a:xfrm>
            <a:off x="4928616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勾选则保留之前的累计计数与历史记录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4928616" y="4096512"/>
            <a:ext cx="2660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起始循环号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928616" y="4407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手动与台架实际循环号对齐，和续接统计独立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4928616" y="5029200"/>
            <a:ext cx="2660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保存间隔</a:t>
            </a:r>
            <a:endParaRPr lang="en-US" sz="1410" dirty="0"/>
          </a:p>
        </p:txBody>
      </p:sp>
      <p:sp>
        <p:nvSpPr>
          <p:cNvPr id="28" name="Text 25"/>
          <p:cNvSpPr/>
          <p:nvPr/>
        </p:nvSpPr>
        <p:spPr>
          <a:xfrm>
            <a:off x="4928616" y="53400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分别控制非异常和异常 WAV 的保存频率</a:t>
            </a:r>
            <a:endParaRPr lang="en-US" sz="1280" dirty="0"/>
          </a:p>
        </p:txBody>
      </p:sp>
      <p:sp>
        <p:nvSpPr>
          <p:cNvPr id="29" name="Shape 26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确定正式监控的数据来源、编号与保存策略。</a:t>
            </a:r>
            <a:endParaRPr lang="en-US" sz="1540" dirty="0"/>
          </a:p>
        </p:txBody>
      </p:sp>
      <p:sp>
        <p:nvSpPr>
          <p:cNvPr id="32" name="Shape 29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核对声音输入设备与保存间隔。</a:t>
            </a:r>
            <a:endParaRPr lang="en-US" sz="1420" dirty="0"/>
          </a:p>
        </p:txBody>
      </p:sp>
      <p:sp>
        <p:nvSpPr>
          <p:cNvPr id="36" name="Text 33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根据需要分别设置“续接上次统计”和“起始循环号”，两者互不绑定。</a:t>
            </a:r>
            <a:endParaRPr lang="en-US" sz="1420" dirty="0"/>
          </a:p>
        </p:txBody>
      </p:sp>
      <p:sp>
        <p:nvSpPr>
          <p:cNvPr id="38" name="Text 35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点击“开始监控”。</a:t>
            </a:r>
            <a:endParaRPr lang="en-US" sz="1420" dirty="0"/>
          </a:p>
        </p:txBody>
      </p:sp>
      <p:sp>
        <p:nvSpPr>
          <p:cNvPr id="40" name="Shape 37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监控状态进入运行中，开始等待下一次 Apply。</a:t>
            </a:r>
            <a:endParaRPr lang="en-US" sz="1460" dirty="0"/>
          </a:p>
        </p:txBody>
      </p:sp>
      <p:sp>
        <p:nvSpPr>
          <p:cNvPr id="43" name="Text 40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图片中的运行数据与累计数为模拟演示。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实时监控｜状态判断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运行判读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每个循环同时计算状态得分和瞬态得分，最终采用较严重的判定等级。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1444752"/>
            <a:ext cx="3822192" cy="4462272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monitor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80" y="1444752"/>
            <a:ext cx="3316263" cy="44622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27448" y="1453896"/>
            <a:ext cx="6867144" cy="4507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0056" y="1773936"/>
            <a:ext cx="6217920" cy="950976"/>
          </a:xfrm>
          <a:prstGeom prst="roundRect">
            <a:avLst>
              <a:gd name="adj" fmla="val 3846"/>
            </a:avLst>
          </a:prstGeom>
          <a:solidFill>
            <a:srgbClr val="E9F3F4"/>
          </a:solidFill>
          <a:ln w="12700">
            <a:solidFill>
              <a:srgbClr val="E9F3F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93792" y="1956816"/>
            <a:ext cx="850392" cy="438912"/>
          </a:xfrm>
          <a:prstGeom prst="rect">
            <a:avLst/>
          </a:prstGeom>
          <a:solidFill>
            <a:srgbClr val="247C67"/>
          </a:solidFill>
          <a:ln w="12700">
            <a:solidFill>
              <a:srgbClr val="247C6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21224" y="19933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6291072" y="1956816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两项得分均不超过各自 P95</a:t>
            </a:r>
            <a:endParaRPr lang="en-US" sz="1540" dirty="0"/>
          </a:p>
        </p:txBody>
      </p:sp>
      <p:sp>
        <p:nvSpPr>
          <p:cNvPr id="15" name="Shape 12"/>
          <p:cNvSpPr/>
          <p:nvPr/>
        </p:nvSpPr>
        <p:spPr>
          <a:xfrm>
            <a:off x="5020056" y="2871216"/>
            <a:ext cx="6217920" cy="950976"/>
          </a:xfrm>
          <a:prstGeom prst="roundRect">
            <a:avLst>
              <a:gd name="adj" fmla="val 3846"/>
            </a:avLst>
          </a:prstGeom>
          <a:solidFill>
            <a:srgbClr val="FEF5E7"/>
          </a:solidFill>
          <a:ln w="12700">
            <a:solidFill>
              <a:srgbClr val="FEF5E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93792" y="3054096"/>
            <a:ext cx="850392" cy="438912"/>
          </a:xfrm>
          <a:prstGeom prst="rect">
            <a:avLst/>
          </a:prstGeom>
          <a:solidFill>
            <a:srgbClr val="AE7624"/>
          </a:solidFill>
          <a:ln w="12700">
            <a:solidFill>
              <a:srgbClr val="AE762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1224" y="30906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6291072" y="3054096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至少一项超过 P95，且两项均不超过 P99</a:t>
            </a:r>
            <a:endParaRPr lang="en-US" sz="1540" dirty="0"/>
          </a:p>
        </p:txBody>
      </p:sp>
      <p:sp>
        <p:nvSpPr>
          <p:cNvPr id="19" name="Shape 16"/>
          <p:cNvSpPr/>
          <p:nvPr/>
        </p:nvSpPr>
        <p:spPr>
          <a:xfrm>
            <a:off x="5020056" y="3968496"/>
            <a:ext cx="6217920" cy="950976"/>
          </a:xfrm>
          <a:prstGeom prst="roundRect">
            <a:avLst>
              <a:gd name="adj" fmla="val 3846"/>
            </a:avLst>
          </a:prstGeom>
          <a:solidFill>
            <a:srgbClr val="FAECEB"/>
          </a:solidFill>
          <a:ln w="12700">
            <a:solidFill>
              <a:srgbClr val="FAECEB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93792" y="4151376"/>
            <a:ext cx="850392" cy="438912"/>
          </a:xfrm>
          <a:prstGeom prst="rect">
            <a:avLst/>
          </a:prstGeom>
          <a:solidFill>
            <a:srgbClr val="B84946"/>
          </a:solidFill>
          <a:ln w="12700">
            <a:solidFill>
              <a:srgbClr val="B8494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21224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6291072" y="4151376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至少一项超过 P99</a:t>
            </a:r>
            <a:endParaRPr lang="en-US" sz="1540" dirty="0"/>
          </a:p>
        </p:txBody>
      </p:sp>
      <p:sp>
        <p:nvSpPr>
          <p:cNvPr id="23" name="Text 20"/>
          <p:cNvSpPr/>
          <p:nvPr/>
        </p:nvSpPr>
        <p:spPr>
          <a:xfrm>
            <a:off x="5020056" y="5294376"/>
            <a:ext cx="6099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P95、P99 为正常校准样本的得分分位阈值，非固定得分，也不表示实际异常发生比例。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658368" y="6227064"/>
            <a:ext cx="10479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异常表示声音偏离正常参考，具体机械原因仍需结合台架状态确认。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实时监控｜两种得分趋势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运行判读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两张趋势图使用同一循环横轴，分别对应两种声学偏离得分。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7022592" cy="4809744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monitor_trends_only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00" y="1389888"/>
            <a:ext cx="6047896" cy="4809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74846" y="1437509"/>
            <a:ext cx="5933605" cy="218581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5974" y="1353312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5974" y="1357884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74846" y="3666183"/>
            <a:ext cx="5933605" cy="217629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5974" y="3547311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5974" y="3551883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18120" y="1417320"/>
            <a:ext cx="3776472" cy="48097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01584" y="1847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58784" y="1847088"/>
            <a:ext cx="25968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状态偏离得分趋势</a:t>
            </a:r>
            <a:endParaRPr lang="en-US" sz="1630" dirty="0"/>
          </a:p>
        </p:txBody>
      </p:sp>
      <p:sp>
        <p:nvSpPr>
          <p:cNvPr id="19" name="Text 16"/>
          <p:cNvSpPr/>
          <p:nvPr/>
        </p:nvSpPr>
        <p:spPr>
          <a:xfrm>
            <a:off x="8558784" y="2377440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反映整轮声音相对于正常参考的偏离程度。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56448" y="3447288"/>
            <a:ext cx="307238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01584" y="36576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558784" y="3657600"/>
            <a:ext cx="25968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瞬态偏离得分趋势</a:t>
            </a:r>
            <a:endParaRPr lang="en-US" sz="1630" dirty="0"/>
          </a:p>
        </p:txBody>
      </p:sp>
      <p:sp>
        <p:nvSpPr>
          <p:cNvPr id="23" name="Text 20"/>
          <p:cNvSpPr/>
          <p:nvPr/>
        </p:nvSpPr>
        <p:spPr>
          <a:xfrm>
            <a:off x="8558784" y="41879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反映短时声音变化相对于正常参考的偏离程度。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01584" y="5669280"/>
            <a:ext cx="3099816" cy="384048"/>
          </a:xfrm>
          <a:prstGeom prst="rect">
            <a:avLst/>
          </a:prstGeom>
          <a:solidFill>
            <a:srgbClr val="E9F3F4"/>
          </a:solidFill>
          <a:ln w="12700">
            <a:solidFill>
              <a:srgbClr val="E9F3F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02168" y="5715000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横向滚动时，两张图同步移动。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03504" y="6327648"/>
            <a:ext cx="8385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图中得分及循环数据为模拟演示。</a:t>
            </a:r>
            <a:endParaRPr lang="en-US" sz="11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实时监控｜当前循环波形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运行判读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波形用于查看本次采集到的声音信号，异常判定仍以模型得分为依据。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911096"/>
            <a:ext cx="7360920" cy="201168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manual_crop/monitor_waveform_clean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46581"/>
            <a:ext cx="7360920" cy="1940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6072" y="4261104"/>
            <a:ext cx="7360920" cy="1298448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4526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横轴：时间（秒）     纵轴：声音振幅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86968" y="5001768"/>
            <a:ext cx="6693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图中的红色标线表示 Apply 位置，示例的单次采集时长为 8 秒。</a:t>
            </a:r>
            <a:endParaRPr lang="en-US" sz="1290" dirty="0"/>
          </a:p>
        </p:txBody>
      </p:sp>
      <p:sp>
        <p:nvSpPr>
          <p:cNvPr id="13" name="Shape 10"/>
          <p:cNvSpPr/>
          <p:nvPr/>
        </p:nvSpPr>
        <p:spPr>
          <a:xfrm>
            <a:off x="8202168" y="1453896"/>
            <a:ext cx="0" cy="4791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0768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430768" y="1837944"/>
            <a:ext cx="29900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提供当前循环的原始声音波形，辅助核对声音事件。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30768" y="3063240"/>
            <a:ext cx="3044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0768" y="32369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查看内容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8430768" y="3648456"/>
            <a:ext cx="28986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当前循环编号及采集状态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声音振幅的时间变化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Apply 动作的参考时刻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585216" y="63276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模拟演示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实时监控｜记录与停止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运行记录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日志用于追溯每个循环的判定、得分及录音保存情况。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490472"/>
            <a:ext cx="4078224" cy="4526280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9" name="Image 0" descr="/mnt/data/epb_ppt_assets/monitor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632" y="1490472"/>
            <a:ext cx="2191104" cy="4526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18888" y="2395728"/>
            <a:ext cx="2980944" cy="3374136"/>
          </a:xfrm>
          <a:prstGeom prst="rect">
            <a:avLst/>
          </a:prstGeom>
          <a:solidFill>
            <a:srgbClr val="F5F7F8"/>
          </a:solidFill>
          <a:ln w="10160">
            <a:solidFill>
              <a:srgbClr val="D7DEE5"/>
            </a:solidFill>
            <a:prstDash val="solid"/>
          </a:ln>
        </p:spPr>
      </p:sp>
      <p:pic>
        <p:nvPicPr>
          <p:cNvPr id="11" name="Image 1" descr="/mnt/data/epb_ppt_assets/monitor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473" y="2395728"/>
            <a:ext cx="2687773" cy="33741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38199" y="4033770"/>
            <a:ext cx="1153551" cy="23647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8494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9327" y="3914898"/>
            <a:ext cx="246888" cy="246888"/>
          </a:xfrm>
          <a:prstGeom prst="ellipse">
            <a:avLst/>
          </a:prstGeom>
          <a:solidFill>
            <a:srgbClr val="B84946"/>
          </a:solidFill>
          <a:ln w="12700">
            <a:solidFill>
              <a:srgbClr val="B8494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9327" y="391947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09744" y="1536192"/>
            <a:ext cx="3017520" cy="64008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0056" y="16642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日志显示循环号、判定与得分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11896" y="1399032"/>
            <a:ext cx="0" cy="480060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0496" y="1426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步骤作用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8540496" y="1737360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保存运行记录，并在需要时有序结束监控。</a:t>
            </a:r>
            <a:endParaRPr lang="en-US" sz="1540" dirty="0"/>
          </a:p>
        </p:txBody>
      </p:sp>
      <p:sp>
        <p:nvSpPr>
          <p:cNvPr id="20" name="Shape 16"/>
          <p:cNvSpPr/>
          <p:nvPr/>
        </p:nvSpPr>
        <p:spPr>
          <a:xfrm>
            <a:off x="8540496" y="2587752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0496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操作方法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8540496" y="30815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878824" y="3063240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查看右侧日志，核对异常循环和得分。</a:t>
            </a:r>
            <a:endParaRPr lang="en-US" sz="1420" dirty="0"/>
          </a:p>
        </p:txBody>
      </p:sp>
      <p:sp>
        <p:nvSpPr>
          <p:cNvPr id="24" name="Text 20"/>
          <p:cNvSpPr/>
          <p:nvPr/>
        </p:nvSpPr>
        <p:spPr>
          <a:xfrm>
            <a:off x="8540496" y="37764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878824" y="3758184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程序按设置的间隔自动保存录音；可在日志中确认保存情况。</a:t>
            </a:r>
            <a:endParaRPr lang="en-US" sz="1420" dirty="0"/>
          </a:p>
        </p:txBody>
      </p:sp>
      <p:sp>
        <p:nvSpPr>
          <p:cNvPr id="26" name="Text 22"/>
          <p:cNvSpPr/>
          <p:nvPr/>
        </p:nvSpPr>
        <p:spPr>
          <a:xfrm>
            <a:off x="8540496" y="4471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878824" y="445312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结束时点击“停止监控”，等待状态变为“已停止”。</a:t>
            </a:r>
            <a:endParaRPr lang="en-US" sz="1420" dirty="0"/>
          </a:p>
        </p:txBody>
      </p:sp>
      <p:sp>
        <p:nvSpPr>
          <p:cNvPr id="28" name="Shape 24"/>
          <p:cNvSpPr/>
          <p:nvPr/>
        </p:nvSpPr>
        <p:spPr>
          <a:xfrm>
            <a:off x="8540496" y="5257800"/>
            <a:ext cx="2990088" cy="0"/>
          </a:xfrm>
          <a:prstGeom prst="line">
            <a:avLst/>
          </a:prstGeom>
          <a:noFill/>
          <a:ln w="10160">
            <a:solidFill>
              <a:srgbClr val="D7DE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0496" y="5367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8540496" y="5650992"/>
            <a:ext cx="2898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本次运行结果已记录，可重新启动或关闭窗口。</a:t>
            </a:r>
            <a:endParaRPr lang="en-US" sz="1460" dirty="0"/>
          </a:p>
        </p:txBody>
      </p:sp>
      <p:sp>
        <p:nvSpPr>
          <p:cNvPr id="31" name="Text 27"/>
          <p:cNvSpPr/>
          <p:nvPr/>
        </p:nvSpPr>
        <p:spPr>
          <a:xfrm>
            <a:off x="557784" y="6336792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截图含模拟循环数据；异常判定应结合原始录音和台架状态检查。</a:t>
            </a:r>
            <a:endParaRPr lang="en-US" sz="10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82296" cy="420624"/>
          </a:xfrm>
          <a:prstGeom prst="rect">
            <a:avLst/>
          </a:prstGeom>
          <a:solidFill>
            <a:srgbClr val="167E8B"/>
          </a:solidFill>
          <a:ln w="12700">
            <a:solidFill>
              <a:srgbClr val="167E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91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常见情况与处理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0917936" y="5029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030" dirty="0"/>
          </a:p>
        </p:txBody>
      </p:sp>
      <p:sp>
        <p:nvSpPr>
          <p:cNvPr id="5" name="Shape 3"/>
          <p:cNvSpPr/>
          <p:nvPr/>
        </p:nvSpPr>
        <p:spPr>
          <a:xfrm>
            <a:off x="512064" y="1097280"/>
            <a:ext cx="11155680" cy="0"/>
          </a:xfrm>
          <a:prstGeom prst="line">
            <a:avLst/>
          </a:prstGeom>
          <a:noFill/>
          <a:ln w="10795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按当前软件状态选择操作，不需重新建立全部流程。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83696" y="6501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86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0991088" cy="530352"/>
          </a:xfrm>
          <a:prstGeom prst="rect">
            <a:avLst/>
          </a:prstGeom>
          <a:solidFill>
            <a:srgbClr val="183450"/>
          </a:solidFill>
          <a:ln w="12700">
            <a:solidFill>
              <a:srgbClr val="18345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00200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3831336" y="1600200"/>
            <a:ext cx="5815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处理方法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566928" y="2011680"/>
            <a:ext cx="10991088" cy="6858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974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148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再次打开已有项目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3858768" y="20939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选择原工作目录；已有候选模型可继续上线前验证，正式模型可进入实时监控。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566928" y="2697480"/>
            <a:ext cx="109910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3832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8346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标定没有完成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3858768" y="27797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等待完成 15 个正式循环；若提前停止，未完成的本轮标定不能作为成功配置。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10991088" cy="6858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0690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5204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训练按钮可用但验证不可用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858768" y="34655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先确认候选模型已训练完成；若提示训练失败，查看下方日志。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566928" y="4069080"/>
            <a:ext cx="109910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7548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2062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验证出现异常或处理错误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3858768" y="41513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本轮不可确认上线；检查台架正常状态及日志中的具体问题。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566928" y="4754880"/>
            <a:ext cx="10991088" cy="6858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4406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8920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循环号与实际台架不一致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3858768" y="48371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按台架实际循环号填写起始循环号；“续接上次统计”可独立勾选或取消。</a:t>
            </a:r>
            <a:endParaRPr lang="en-US" sz="1310" dirty="0"/>
          </a:p>
        </p:txBody>
      </p:sp>
      <p:sp>
        <p:nvSpPr>
          <p:cNvPr id="31" name="Shape 29"/>
          <p:cNvSpPr/>
          <p:nvPr/>
        </p:nvSpPr>
        <p:spPr>
          <a:xfrm>
            <a:off x="566928" y="5440680"/>
            <a:ext cx="109910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6126480"/>
            <a:ext cx="10991088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577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83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监控出现“关注”或“异常”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3858768" y="5522976"/>
            <a:ext cx="7507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23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查看两种得分趋势、实时日志及保存的录音，并结合台架情况复核。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EPB 声学状态监控系统｜操作说明</dc:title>
  <dc:subject>EPB 声学状态监控系统操作说明</dc:subject>
  <dc:creator>EPB 声学状态监控系统</dc:creator>
  <cp:lastModifiedBy>EPB 声学状态监控系统</cp:lastModifiedBy>
  <cp:revision>1</cp:revision>
  <dcterms:created xsi:type="dcterms:W3CDTF">2026-10-13T03:29:55Z</dcterms:created>
  <dcterms:modified xsi:type="dcterms:W3CDTF">2026-10-13T03:29:55Z</dcterms:modified>
</cp:coreProperties>
</file>