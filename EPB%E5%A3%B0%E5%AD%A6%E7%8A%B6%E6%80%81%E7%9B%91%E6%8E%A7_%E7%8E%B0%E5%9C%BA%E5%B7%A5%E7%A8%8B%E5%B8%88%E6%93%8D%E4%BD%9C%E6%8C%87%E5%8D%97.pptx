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749808"/>
            <a:ext cx="1810512" cy="338328"/>
          </a:xfrm>
          <a:prstGeom prst="rect">
            <a:avLst/>
          </a:prstGeom>
          <a:solidFill>
            <a:srgbClr val="007479"/>
          </a:solidFill>
          <a:ln w="12700">
            <a:solidFill>
              <a:srgbClr val="007479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13816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现场工程师快速上手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3504" y="1581912"/>
            <a:ext cx="64922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EPB 声学状态监控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21792" y="2542032"/>
            <a:ext cx="64008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B5D0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从正常模型建立，到实时异常监控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1792" y="3291840"/>
            <a:ext cx="6025896" cy="0"/>
          </a:xfrm>
          <a:prstGeom prst="line">
            <a:avLst/>
          </a:prstGeom>
          <a:noFill/>
          <a:ln w="19050">
            <a:solidFill>
              <a:srgbClr val="3A65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3739896"/>
            <a:ext cx="6345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按图操作 · 每一步都有完成标志 · 不需要了解算法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" y="47548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6C7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使用流程 / 操作按钮 / 状态判断 / 现场注意事项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1097280"/>
            <a:ext cx="4187952" cy="2450592"/>
          </a:xfrm>
          <a:prstGeom prst="roundRect">
            <a:avLst>
              <a:gd name="adj" fmla="val 2239"/>
            </a:avLst>
          </a:prstGeom>
          <a:solidFill>
            <a:srgbClr val="0B233B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1" name="Image 0" descr="/mnt/data/epb_ppt_assets/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1210151"/>
            <a:ext cx="4187952" cy="222485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812280" y="3721608"/>
            <a:ext cx="4754880" cy="2231136"/>
          </a:xfrm>
          <a:prstGeom prst="roundRect">
            <a:avLst>
              <a:gd name="adj" fmla="val 2459"/>
            </a:avLst>
          </a:prstGeom>
          <a:solidFill>
            <a:srgbClr val="0B233B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3" name="Image 1" descr="/mnt/data/epb_ppt_assets/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811" y="3721608"/>
            <a:ext cx="3569818" cy="22311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47888" y="106984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正常模型建立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534656" y="367588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实时监控（模拟示例）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2648" y="620877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B5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操作培训 / 2026.10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上手路线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第一次使用，按这个顺序做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先建立正常参考，再开始正式监控。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48640" y="1691640"/>
            <a:ext cx="2377440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828800"/>
            <a:ext cx="448056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18333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2231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选择工作目录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94944" y="2660904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每次试验一套数据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3035808" y="220370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8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3447288" y="1691640"/>
            <a:ext cx="2377440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93592" y="1828800"/>
            <a:ext cx="448056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18333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93592" y="2231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卡钳动作信号捕捉</a:t>
            </a:r>
            <a:endParaRPr lang="en-US" sz="1520" dirty="0"/>
          </a:p>
        </p:txBody>
      </p:sp>
      <p:sp>
        <p:nvSpPr>
          <p:cNvPr id="19" name="Text 17"/>
          <p:cNvSpPr/>
          <p:nvPr/>
        </p:nvSpPr>
        <p:spPr>
          <a:xfrm>
            <a:off x="3593592" y="2660904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先观察 60 秒，再学满 15 次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5934456" y="220370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8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6345936" y="1691640"/>
            <a:ext cx="2377440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1828800"/>
            <a:ext cx="448056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8333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2231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正常样本采集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6492240" y="2660904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可跳过，也可继续补充</a:t>
            </a:r>
            <a:endParaRPr lang="en-US" sz="1090" dirty="0"/>
          </a:p>
        </p:txBody>
      </p:sp>
      <p:sp>
        <p:nvSpPr>
          <p:cNvPr id="26" name="Text 24"/>
          <p:cNvSpPr/>
          <p:nvPr/>
        </p:nvSpPr>
        <p:spPr>
          <a:xfrm>
            <a:off x="8833104" y="2203704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8F9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244584" y="1691640"/>
            <a:ext cx="2377440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390888" y="1828800"/>
            <a:ext cx="448056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82328" y="183337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390888" y="22311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训练候选模型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9390888" y="2660904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程序自动检查音频</a:t>
            </a:r>
            <a:endParaRPr lang="en-US" sz="1090" dirty="0"/>
          </a:p>
        </p:txBody>
      </p:sp>
      <p:sp>
        <p:nvSpPr>
          <p:cNvPr id="32" name="Shape 30"/>
          <p:cNvSpPr/>
          <p:nvPr/>
        </p:nvSpPr>
        <p:spPr>
          <a:xfrm>
            <a:off x="1499616" y="3657600"/>
            <a:ext cx="2788920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45920" y="3794760"/>
            <a:ext cx="448056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737360" y="379933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45920" y="41970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上线前验证</a:t>
            </a:r>
            <a:endParaRPr lang="en-US" sz="1520" dirty="0"/>
          </a:p>
        </p:txBody>
      </p:sp>
      <p:sp>
        <p:nvSpPr>
          <p:cNvPr id="36" name="Text 34"/>
          <p:cNvSpPr/>
          <p:nvPr/>
        </p:nvSpPr>
        <p:spPr>
          <a:xfrm>
            <a:off x="1645920" y="46268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正常台架现场验证</a:t>
            </a:r>
            <a:endParaRPr lang="en-US" sz="1090" dirty="0"/>
          </a:p>
        </p:txBody>
      </p:sp>
      <p:sp>
        <p:nvSpPr>
          <p:cNvPr id="37" name="Shape 35"/>
          <p:cNvSpPr/>
          <p:nvPr/>
        </p:nvSpPr>
        <p:spPr>
          <a:xfrm>
            <a:off x="4572000" y="3657600"/>
            <a:ext cx="2788920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18304" y="3794760"/>
            <a:ext cx="448056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379933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18304" y="41970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确认上线</a:t>
            </a:r>
            <a:endParaRPr lang="en-US" sz="1520" dirty="0"/>
          </a:p>
        </p:txBody>
      </p:sp>
      <p:sp>
        <p:nvSpPr>
          <p:cNvPr id="41" name="Text 39"/>
          <p:cNvSpPr/>
          <p:nvPr/>
        </p:nvSpPr>
        <p:spPr>
          <a:xfrm>
            <a:off x="4718304" y="46268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候选变为正式模型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7644384" y="3657600"/>
            <a:ext cx="2788920" cy="1453896"/>
          </a:xfrm>
          <a:prstGeom prst="roundRect">
            <a:avLst>
              <a:gd name="adj" fmla="val 817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90688" y="3794760"/>
            <a:ext cx="448056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2128" y="379933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90688" y="4197096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实时监控</a:t>
            </a:r>
            <a:endParaRPr lang="en-US" sz="1520" dirty="0"/>
          </a:p>
        </p:txBody>
      </p:sp>
      <p:sp>
        <p:nvSpPr>
          <p:cNvPr id="46" name="Text 44"/>
          <p:cNvSpPr/>
          <p:nvPr/>
        </p:nvSpPr>
        <p:spPr>
          <a:xfrm>
            <a:off x="7790688" y="4626864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看判定、趋势和日志</a:t>
            </a:r>
            <a:endParaRPr lang="en-US" sz="1090" dirty="0"/>
          </a:p>
        </p:txBody>
      </p:sp>
      <p:sp>
        <p:nvSpPr>
          <p:cNvPr id="47" name="Shape 45"/>
          <p:cNvSpPr/>
          <p:nvPr/>
        </p:nvSpPr>
        <p:spPr>
          <a:xfrm>
            <a:off x="557784" y="5769864"/>
            <a:ext cx="11018520" cy="438912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5861304"/>
            <a:ext cx="10597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重点：阶段 03“继续采集正常样本”不是强制步骤；已有足够正常样本时，可以直接训练。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启动软件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打开程序，选择“正常模型建立”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初次建模从这里进入。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331720" y="1517904"/>
            <a:ext cx="3794760" cy="4407408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1907" y="1517904"/>
            <a:ext cx="3674386" cy="44074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633154" y="1972563"/>
            <a:ext cx="3117661" cy="389708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32570" y="1862835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32570" y="1866493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84848" y="1572768"/>
            <a:ext cx="4261104" cy="434340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04888" y="1883664"/>
            <a:ext cx="1545336" cy="320040"/>
          </a:xfrm>
          <a:prstGeom prst="roundRect">
            <a:avLst>
              <a:gd name="adj" fmla="val 34286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96328" y="1888236"/>
            <a:ext cx="1362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只需要点这个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114032" y="2478024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正常模型建立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7114032" y="3337560"/>
            <a:ext cx="33924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首次使用：建立当前台架的正常声音参考。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7040880" y="4901184"/>
            <a:ext cx="3538728" cy="539496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214616" y="5056632"/>
            <a:ext cx="3182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其它“调试工具”暂时不用操作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选择已有工作目录，或创建新的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建议每次独立试验使用一个明确的工作目录。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731520" y="1892808"/>
            <a:ext cx="6400800" cy="406908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work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462" y="1892808"/>
            <a:ext cx="5806916" cy="4069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282779" y="3090220"/>
            <a:ext cx="5308878" cy="100667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82195" y="2980492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2195" y="2984149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282779" y="4605528"/>
            <a:ext cx="5319474" cy="1091446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2195" y="4495800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2195" y="449945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53528" y="1801368"/>
            <a:ext cx="3639312" cy="4288536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73568" y="2057400"/>
            <a:ext cx="987552" cy="274320"/>
          </a:xfrm>
          <a:prstGeom prst="roundRect">
            <a:avLst>
              <a:gd name="adj" fmla="val 40000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65008" y="2061972"/>
            <a:ext cx="804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二选一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955280" y="2615184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已有工作目录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955280" y="3054096"/>
            <a:ext cx="2852928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下拉选好 → 点击“打开所选目录”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7955280" y="3959352"/>
            <a:ext cx="2916936" cy="0"/>
          </a:xfrm>
          <a:prstGeom prst="line">
            <a:avLst/>
          </a:prstGeom>
          <a:noFill/>
          <a:ln w="12700">
            <a:solidFill>
              <a:srgbClr val="DBE3E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55280" y="4133088"/>
            <a:ext cx="2761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新建工作目录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7955280" y="458114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只填写名称后缀 → 点击“新建并进入”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850392" y="6153912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程序会自动加上前缀“工作日志-test”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7099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/ 准备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先确认声音设备与采集参数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保证电脑能收到台架声音，然后开始触发标定。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394192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st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749"/>
            <a:ext cx="8394192" cy="445941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027557" y="2542346"/>
            <a:ext cx="4415695" cy="16176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26973" y="2432618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26973" y="243627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971" y="2520486"/>
            <a:ext cx="3235262" cy="20548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86387" y="2410758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86387" y="241441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049417" y="4107513"/>
            <a:ext cx="633936" cy="201111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48833" y="3997785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8833" y="4001443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9134856" y="1417320"/>
            <a:ext cx="2578608" cy="504748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45168" y="1655064"/>
            <a:ext cx="1536192" cy="301752"/>
          </a:xfrm>
          <a:prstGeom prst="roundRect">
            <a:avLst>
              <a:gd name="adj" fmla="val 36364"/>
            </a:avLst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436608" y="165963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这一步怎么做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54312" y="20848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先检查，再开始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9354312" y="2926080"/>
            <a:ext cx="210312" cy="210312"/>
          </a:xfrm>
          <a:prstGeom prst="ellipse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2921508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665208" y="2852928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选择实际接入的麦克风设备。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54312" y="3758184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54312" y="3753612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65208" y="3685032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 Apply 后等待、采集时长与冷却时间。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354312" y="4590288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354312" y="4585716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9665208" y="4517136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点击“开始触发标定”。</a:t>
            </a:r>
            <a:endParaRPr lang="en-US" sz="1350" dirty="0"/>
          </a:p>
        </p:txBody>
      </p:sp>
      <p:sp>
        <p:nvSpPr>
          <p:cNvPr id="33" name="Shape 30"/>
          <p:cNvSpPr/>
          <p:nvPr/>
        </p:nvSpPr>
        <p:spPr>
          <a:xfrm>
            <a:off x="9299448" y="5678424"/>
            <a:ext cx="2240280" cy="50292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409176" y="5760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采集参数在界面上方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02920" y="6007608"/>
            <a:ext cx="8394192" cy="41148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4944" y="6108192"/>
            <a:ext cx="8065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 截图中的 0 秒 / 8 秒 / 2 秒只是演示配置，应按当前测试需要设置。</a:t>
            </a:r>
            <a:endParaRPr lang="en-US" sz="119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865376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/ 初始化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前 60 秒：让软件先听一听台架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此时只学习背景和动作声音的区别，不计入 15 次。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394192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bootstr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749"/>
            <a:ext cx="8394192" cy="445941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2823" y="2857129"/>
            <a:ext cx="3362049" cy="664540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2239" y="2747401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2239" y="275105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053789" y="2988288"/>
            <a:ext cx="1547679" cy="11804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3205" y="2878560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3205" y="2882217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34856" y="1417320"/>
            <a:ext cx="2578608" cy="504748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45168" y="1655064"/>
            <a:ext cx="1536192" cy="301752"/>
          </a:xfrm>
          <a:prstGeom prst="roundRect">
            <a:avLst>
              <a:gd name="adj" fmla="val 36364"/>
            </a:avLst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36608" y="165963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这一步怎么做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54312" y="20848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这个阶段不用点别的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354312" y="2926080"/>
            <a:ext cx="210312" cy="210312"/>
          </a:xfrm>
          <a:prstGeom prst="ellipse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54312" y="2921508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665208" y="2852928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台架保持正常工作。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354312" y="3758184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3753612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665208" y="3685032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看“初始化 xx / 60 秒”逐步增加。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54312" y="4590288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54312" y="4585716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65208" y="4517136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如声音无法区分，程序会继续观察。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299448" y="5678424"/>
            <a:ext cx="2240280" cy="50292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09176" y="5760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左侧显示初始化进度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6007608"/>
            <a:ext cx="8394192" cy="41148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6108192"/>
            <a:ext cx="8065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 初始化期间检测到的动作不计入正式 15 次完整循环。</a:t>
            </a:r>
            <a:endParaRPr lang="en-US" sz="11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2020824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/ 动作学习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等待 15 个完整循环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系统会自动识别 Apply 并记录完整采集循环。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394192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le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749"/>
            <a:ext cx="8394192" cy="445941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5239" y="3032008"/>
            <a:ext cx="3191542" cy="655796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4655" y="2922280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4655" y="2925937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6640" y="4535967"/>
            <a:ext cx="2885503" cy="53775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6056" y="4426239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6056" y="4429897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34856" y="1417320"/>
            <a:ext cx="2578608" cy="504748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45168" y="1655064"/>
            <a:ext cx="1536192" cy="301752"/>
          </a:xfrm>
          <a:prstGeom prst="roundRect">
            <a:avLst>
              <a:gd name="adj" fmla="val 36364"/>
            </a:avLst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36608" y="165963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这一步怎么做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54312" y="20848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 15 / 15 才算完成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354312" y="2926080"/>
            <a:ext cx="210312" cy="210312"/>
          </a:xfrm>
          <a:prstGeom prst="ellipse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54312" y="2921508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665208" y="2852928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开始正式检测 Apply 后，循环数逐渐增加。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354312" y="3758184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3753612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665208" y="3685032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必须完成 15 个完整循环。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54312" y="4590288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54312" y="4585716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65208" y="4517136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中途不要手动关闭窗口。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299448" y="5678424"/>
            <a:ext cx="2240280" cy="50292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09176" y="5760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工作状态会显示已完成数量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6007608"/>
            <a:ext cx="8394192" cy="41148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6108192"/>
            <a:ext cx="8065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 图中的“2/15”表示正在学习，不代表标定已完成。</a:t>
            </a:r>
            <a:endParaRPr lang="en-US" sz="11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7099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/ 完成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动作捕捉配置建立完成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个完整循环自动转为首批正常样本。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394192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profile_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749"/>
            <a:ext cx="8394192" cy="445941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8500" y="2962056"/>
            <a:ext cx="3497580" cy="80444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7916" y="2852328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7916" y="285598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8500" y="5454082"/>
            <a:ext cx="7323058" cy="367246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7916" y="5344354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7916" y="5348011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34856" y="1417320"/>
            <a:ext cx="2578608" cy="504748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45168" y="1655064"/>
            <a:ext cx="1536192" cy="301752"/>
          </a:xfrm>
          <a:prstGeom prst="roundRect">
            <a:avLst>
              <a:gd name="adj" fmla="val 36364"/>
            </a:avLst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36608" y="165963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这一步怎么做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54312" y="20848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检查这两个结果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354312" y="2926080"/>
            <a:ext cx="210312" cy="210312"/>
          </a:xfrm>
          <a:prstGeom prst="ellipse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54312" y="2921508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665208" y="2852928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状态显示“完成 15/15”。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354312" y="3758184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3753612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665208" y="3685032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正常样本计数至少包含本次 15 条。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54312" y="4590288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54312" y="4585716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65208" y="4517136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系统保存声音捕捉配置和 15 段 WAV。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299448" y="5678424"/>
            <a:ext cx="2240280" cy="50292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09176" y="5760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重点看“15/15”与样本计数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6007608"/>
            <a:ext cx="8394192" cy="41148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6108192"/>
            <a:ext cx="8065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 标定结束后会自动停止；生成的 15 条可直接用于训练。</a:t>
            </a:r>
            <a:endParaRPr lang="en-US" sz="11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7099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/ 选做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可以继续采集正常样本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为了覆盖更多正常工况，可补充样本；也可以直接训练。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81328"/>
            <a:ext cx="7232904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collec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48908"/>
            <a:ext cx="7232904" cy="3842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93331" y="2675282"/>
            <a:ext cx="1002059" cy="169521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2747" y="2565554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2747" y="256921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9427" y="3846862"/>
            <a:ext cx="629112" cy="218494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8843" y="3737134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8843" y="3740791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19288" y="1892808"/>
            <a:ext cx="3584448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8" name="Image 1" descr="/mnt/data/epb_ppt_assets/collected_st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9288" y="2385420"/>
            <a:ext cx="3584448" cy="1026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119872" y="144475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示例：24 条正常样本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8010144" y="4160520"/>
            <a:ext cx="3602736" cy="1389888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247888" y="4416552"/>
            <a:ext cx="30540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本次采集目标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247888" y="4773168"/>
            <a:ext cx="3127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填数量：采满自动停止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不填数量：手动停止</a:t>
            </a:r>
            <a:endParaRPr lang="en-US" sz="1420" dirty="0"/>
          </a:p>
        </p:txBody>
      </p:sp>
      <p:sp>
        <p:nvSpPr>
          <p:cNvPr id="23" name="Shape 19"/>
          <p:cNvSpPr/>
          <p:nvPr/>
        </p:nvSpPr>
        <p:spPr>
          <a:xfrm>
            <a:off x="502920" y="5660136"/>
            <a:ext cx="11119104" cy="493776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4088" y="5797296"/>
            <a:ext cx="10689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不强制采到示例中的“200”；示例实际手动停在 24 条，其中最初标定生成 15 条。</a:t>
            </a:r>
            <a:endParaRPr lang="en-US" sz="12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2020824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/ 模型训练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点击“训练候选模型”，等待完成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训练前程序会自动检查录音是否有效，不需要另点验证。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394192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col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749"/>
            <a:ext cx="8394192" cy="445941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011251" y="4098769"/>
            <a:ext cx="786956" cy="218599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10667" y="3989041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10667" y="3992699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25712" y="1417320"/>
            <a:ext cx="2587752" cy="5020056"/>
          </a:xfrm>
          <a:prstGeom prst="roundRect">
            <a:avLst>
              <a:gd name="adj" fmla="val 3180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36024" y="1645920"/>
            <a:ext cx="621792" cy="274320"/>
          </a:xfrm>
          <a:prstGeom prst="roundRect">
            <a:avLst>
              <a:gd name="adj" fmla="val 40000"/>
            </a:avLst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27464" y="165049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17736" y="2075688"/>
            <a:ext cx="212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点击“训练候选模型”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9326880" y="3008376"/>
            <a:ext cx="208483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7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软件会使用当前正常样本，自动训练并生成候选模型。</a:t>
            </a:r>
            <a:endParaRPr lang="en-US" sz="1570" dirty="0"/>
          </a:p>
        </p:txBody>
      </p:sp>
      <p:sp>
        <p:nvSpPr>
          <p:cNvPr id="19" name="Shape 16"/>
          <p:cNvSpPr/>
          <p:nvPr/>
        </p:nvSpPr>
        <p:spPr>
          <a:xfrm>
            <a:off x="9299448" y="4754880"/>
            <a:ext cx="2258568" cy="1124712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45752" y="4901184"/>
            <a:ext cx="19476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完成标志：</a:t>
            </a:r>
            <a:endParaRPr lang="en-US" sz="1380" dirty="0"/>
          </a:p>
          <a:p>
            <a:pPr indent="0" marL="0">
              <a:buNone/>
            </a:pPr>
            <a:r>
              <a:rPr lang="en-US" sz="138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“已训练” + 参考、校准样本数</a:t>
            </a:r>
            <a:endParaRPr lang="en-US" sz="1380" dirty="0"/>
          </a:p>
        </p:txBody>
      </p:sp>
      <p:sp>
        <p:nvSpPr>
          <p:cNvPr id="21" name="Shape 18"/>
          <p:cNvSpPr/>
          <p:nvPr/>
        </p:nvSpPr>
        <p:spPr>
          <a:xfrm>
            <a:off x="502920" y="6007608"/>
            <a:ext cx="8394192" cy="402336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4944" y="6108192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截图示例：24 条正常样本分为 12 条参考样本、12 条校准样本。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2176272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 / 上线前验证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 用新的正常循环，检查候选模型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训练完成后，点击“开始上线前验证”。保持台架正常运行。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174736" cy="4343400"/>
          </a:xfrm>
          <a:prstGeom prst="roundRect">
            <a:avLst>
              <a:gd name="adj" fmla="val 1263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606"/>
            <a:ext cx="8174736" cy="4342829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006433" y="4023303"/>
            <a:ext cx="638651" cy="234172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05849" y="3913575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05849" y="3917232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8074" y="5326151"/>
            <a:ext cx="6045899" cy="374675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7490" y="5216423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7490" y="5220081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915400" y="1417320"/>
            <a:ext cx="2816352" cy="4352544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71432" y="1728216"/>
            <a:ext cx="1280160" cy="301752"/>
          </a:xfrm>
          <a:prstGeom prst="roundRect">
            <a:avLst>
              <a:gd name="adj" fmla="val 36364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62872" y="17327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是否通过？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180576" y="2231136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 / 关注 / 异常</a:t>
            </a:r>
            <a:endParaRPr lang="en-US" sz="1720" dirty="0"/>
          </a:p>
        </p:txBody>
      </p:sp>
      <p:sp>
        <p:nvSpPr>
          <p:cNvPr id="21" name="Text 18"/>
          <p:cNvSpPr/>
          <p:nvPr/>
        </p:nvSpPr>
        <p:spPr>
          <a:xfrm>
            <a:off x="9180576" y="2834640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至少有验证样本；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没有“异常”；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没有“处理错误”。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162288" y="4754880"/>
            <a:ext cx="2340864" cy="676656"/>
          </a:xfrm>
          <a:prstGeom prst="rect">
            <a:avLst/>
          </a:prstGeom>
          <a:solidFill>
            <a:srgbClr val="EDF7F4"/>
          </a:solidFill>
          <a:ln w="12700">
            <a:solidFill>
              <a:srgbClr val="EDF7F4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36024" y="4864608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关注可以出现，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但需要留意。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" y="5916168"/>
            <a:ext cx="11210544" cy="475488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4088" y="6035040"/>
            <a:ext cx="10744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本次截图示例：正常 3、关注 0、异常 0、处理错误 0；这是演示结果，不是固定验证数量。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2020824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4 → 阶段 5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 验证通过后，点击“确认上线”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把通过验证的候选模型变成正式监控模型。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4124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confi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654"/>
            <a:ext cx="8412480" cy="447789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11992" y="4082606"/>
            <a:ext cx="582740" cy="166497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11408" y="3972878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11408" y="3976535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144000" y="1417320"/>
            <a:ext cx="2560320" cy="497433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354312" y="1664208"/>
            <a:ext cx="1682496" cy="274320"/>
          </a:xfrm>
          <a:prstGeom prst="roundRect">
            <a:avLst>
              <a:gd name="adj" fmla="val 40000"/>
            </a:avLst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45752" y="1668780"/>
            <a:ext cx="14996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确认后会发生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9326880" y="2221992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正式模型更新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326880" y="2788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点击弹窗中的“是”。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9326880" y="3666744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若已有正式模型，程序会按现有逻辑备份。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9299448" y="4837176"/>
            <a:ext cx="2267712" cy="969264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54896" y="505663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完成后可进入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“实时监控”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5998464"/>
            <a:ext cx="8412480" cy="41148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4088" y="6117336"/>
            <a:ext cx="8010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只有“上线前验证”通过，才可以确认上线；不能直接跳过验证。</a:t>
            </a:r>
            <a:endParaRPr lang="en-US" sz="11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2020824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5 / 进入监控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 看到“候选已上线”，进入实时监控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正式模型已经就绪，可以切换到持续监控窗口。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8394192" cy="4462272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promo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8749"/>
            <a:ext cx="8394192" cy="445941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066080" y="4094397"/>
            <a:ext cx="721376" cy="231715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965496" y="3984669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65496" y="3988327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77799" y="3539157"/>
            <a:ext cx="3322701" cy="332270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7215" y="3429429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7215" y="3433086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34856" y="1417320"/>
            <a:ext cx="2578608" cy="5047488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345168" y="1655064"/>
            <a:ext cx="1536192" cy="301752"/>
          </a:xfrm>
          <a:prstGeom prst="roundRect">
            <a:avLst>
              <a:gd name="adj" fmla="val 36364"/>
            </a:avLst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36608" y="1659636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这一步怎么做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54312" y="20848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这时再点监控入口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9354312" y="2926080"/>
            <a:ext cx="210312" cy="210312"/>
          </a:xfrm>
          <a:prstGeom prst="ellipse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354312" y="2921508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9665208" y="2852928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确认状态为“候选已上线”。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354312" y="3758184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354312" y="3753612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665208" y="3685032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点击“进入实时监控”。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9354312" y="4590288"/>
            <a:ext cx="210312" cy="21031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354312" y="4585716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9665208" y="4517136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后续在独立窗口开始或停止监控。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9299448" y="5678424"/>
            <a:ext cx="2240280" cy="50292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409176" y="57607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左侧状态会提示已上线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02920" y="6007608"/>
            <a:ext cx="8394192" cy="41148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4944" y="6108192"/>
            <a:ext cx="8065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  已建立正式模型的项目，下次打开仍可进入实时监控。</a:t>
            </a:r>
            <a:endParaRPr lang="en-US" sz="119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2020824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5 / 认识界面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 实时监控：先看这三个区域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左边看当前，中间看变化，右边看每一轮记录。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1228832" cy="4636008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8530" y="1417320"/>
            <a:ext cx="7417613" cy="46360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408530" y="1417320"/>
            <a:ext cx="1303877" cy="449113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008F9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307946" y="1371600"/>
            <a:ext cx="256032" cy="256032"/>
          </a:xfrm>
          <a:prstGeom prst="ellipse">
            <a:avLst/>
          </a:prstGeom>
          <a:solidFill>
            <a:srgbClr val="008F95"/>
          </a:solidFill>
          <a:ln w="12700">
            <a:solidFill>
              <a:srgbClr val="008F9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07946" y="137525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747177" y="1417320"/>
            <a:ext cx="3871067" cy="449113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EB96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46593" y="1371600"/>
            <a:ext cx="256032" cy="256032"/>
          </a:xfrm>
          <a:prstGeom prst="ellipse">
            <a:avLst/>
          </a:prstGeom>
          <a:solidFill>
            <a:srgbClr val="EB9638"/>
          </a:solidFill>
          <a:ln w="12700">
            <a:solidFill>
              <a:srgbClr val="EB96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46593" y="137525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624039" y="1417320"/>
            <a:ext cx="2187616" cy="4491133"/>
          </a:xfrm>
          <a:prstGeom prst="rect">
            <a:avLst/>
          </a:prstGeom>
          <a:solidFill>
            <a:srgbClr val="FFFFFF">
              <a:alpha val="0"/>
            </a:srgbClr>
          </a:solidFill>
          <a:ln w="29210">
            <a:solidFill>
              <a:srgbClr val="D9535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23455" y="1371600"/>
            <a:ext cx="256032" cy="256032"/>
          </a:xfrm>
          <a:prstGeom prst="ellipse">
            <a:avLst/>
          </a:prstGeom>
          <a:solidFill>
            <a:srgbClr val="D95354"/>
          </a:solidFill>
          <a:ln w="12700">
            <a:solidFill>
              <a:srgbClr val="D9535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23455" y="1375258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0080" y="6126480"/>
            <a:ext cx="3456432" cy="256032"/>
          </a:xfrm>
          <a:prstGeom prst="roundRect">
            <a:avLst>
              <a:gd name="adj" fmla="val 42857"/>
            </a:avLst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6131052"/>
            <a:ext cx="3273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左侧：当前状态、设置和阈值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4306824" y="6126480"/>
            <a:ext cx="3813048" cy="256032"/>
          </a:xfrm>
          <a:prstGeom prst="roundRect">
            <a:avLst>
              <a:gd name="adj" fmla="val 42857"/>
            </a:avLst>
          </a:prstGeom>
          <a:solidFill>
            <a:srgbClr val="EB9638"/>
          </a:solidFill>
          <a:ln w="12700">
            <a:solidFill>
              <a:srgbClr val="EB963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398264" y="6131052"/>
            <a:ext cx="36301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中间：两种得分趋势与波形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8467344" y="6126480"/>
            <a:ext cx="2871216" cy="256032"/>
          </a:xfrm>
          <a:prstGeom prst="roundRect">
            <a:avLst>
              <a:gd name="adj" fmla="val 42857"/>
            </a:avLst>
          </a:prstGeom>
          <a:solidFill>
            <a:srgbClr val="D95354"/>
          </a:solidFill>
          <a:ln w="12700">
            <a:solidFill>
              <a:srgbClr val="D9535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58784" y="6131052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右侧：实时日志</a:t>
            </a:r>
            <a:endParaRPr lang="en-US" sz="1060" dirty="0"/>
          </a:p>
        </p:txBody>
      </p:sp>
      <p:sp>
        <p:nvSpPr>
          <p:cNvPr id="26" name="Text 23"/>
          <p:cNvSpPr/>
          <p:nvPr/>
        </p:nvSpPr>
        <p:spPr>
          <a:xfrm>
            <a:off x="566928" y="6492240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说明：本图为模拟循环演示，用于解释界面，不代表真实台架测试结果。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2020824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5 / 日常使用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 实时监控时，怎么操作和判断？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开始后关注当前判定、两条得分趋势和每轮日志。图中为模拟演示。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3182112" cy="420624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0" name="Image 0" descr="/mnt/data/epb_ppt_assets/monitor_set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78532"/>
            <a:ext cx="3182112" cy="3994711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913632" y="1572768"/>
            <a:ext cx="4736592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2" name="Image 1" descr="/mnt/data/epb_ppt_assets/monitor_char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623961"/>
            <a:ext cx="4736592" cy="410385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878824" y="1572768"/>
            <a:ext cx="2816352" cy="4206240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14" name="Image 2" descr="/mnt/data/epb_ppt_assets/monitor_l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911" y="1572768"/>
            <a:ext cx="2036177" cy="4206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0080" y="5815584"/>
            <a:ext cx="2596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设置并启动</a:t>
            </a:r>
            <a:endParaRPr lang="en-US" sz="1330" dirty="0"/>
          </a:p>
        </p:txBody>
      </p:sp>
      <p:sp>
        <p:nvSpPr>
          <p:cNvPr id="16" name="Text 11"/>
          <p:cNvSpPr/>
          <p:nvPr/>
        </p:nvSpPr>
        <p:spPr>
          <a:xfrm>
            <a:off x="4114800" y="5815584"/>
            <a:ext cx="4123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看状态与瞬态得分</a:t>
            </a:r>
            <a:endParaRPr lang="en-US" sz="1330" dirty="0"/>
          </a:p>
        </p:txBody>
      </p:sp>
      <p:sp>
        <p:nvSpPr>
          <p:cNvPr id="17" name="Text 12"/>
          <p:cNvSpPr/>
          <p:nvPr/>
        </p:nvSpPr>
        <p:spPr>
          <a:xfrm>
            <a:off x="9043416" y="5815584"/>
            <a:ext cx="2532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日志查每次循环</a:t>
            </a:r>
            <a:endParaRPr lang="en-US" sz="1330" dirty="0"/>
          </a:p>
        </p:txBody>
      </p:sp>
      <p:sp>
        <p:nvSpPr>
          <p:cNvPr id="18" name="Text 13"/>
          <p:cNvSpPr/>
          <p:nvPr/>
        </p:nvSpPr>
        <p:spPr>
          <a:xfrm>
            <a:off x="658368" y="613562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选择输入设备；按现场循环号填写起始值；设置保存间隔；点击“开始监控”。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监控判读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 “正常、关注、异常”怎么理解？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状态偏离和瞬态偏离分别评分，最终显示两者中更严重的等级。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612648" y="1755648"/>
            <a:ext cx="5093208" cy="877824"/>
          </a:xfrm>
          <a:prstGeom prst="roundRect">
            <a:avLst>
              <a:gd name="adj" fmla="val 10417"/>
            </a:avLst>
          </a:prstGeom>
          <a:solidFill>
            <a:srgbClr val="E8F5F0"/>
          </a:solidFill>
          <a:ln w="12700">
            <a:solidFill>
              <a:srgbClr val="E8F5F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956816"/>
            <a:ext cx="777240" cy="384048"/>
          </a:xfrm>
          <a:prstGeom prst="roundRect">
            <a:avLst>
              <a:gd name="adj" fmla="val 28571"/>
            </a:avLst>
          </a:prstGeom>
          <a:solidFill>
            <a:srgbClr val="1A8A70"/>
          </a:solidFill>
          <a:ln w="12700">
            <a:solidFill>
              <a:srgbClr val="1A8A70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1961388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01368" y="1901952"/>
            <a:ext cx="3611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两种得分都不超过各自 P95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" y="2862072"/>
            <a:ext cx="5093208" cy="877824"/>
          </a:xfrm>
          <a:prstGeom prst="roundRect">
            <a:avLst>
              <a:gd name="adj" fmla="val 10417"/>
            </a:avLst>
          </a:prstGeom>
          <a:solidFill>
            <a:srgbClr val="FFF2DA"/>
          </a:solidFill>
          <a:ln w="12700">
            <a:solidFill>
              <a:srgbClr val="FFF2D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" y="3063240"/>
            <a:ext cx="777240" cy="384048"/>
          </a:xfrm>
          <a:prstGeom prst="roundRect">
            <a:avLst>
              <a:gd name="adj" fmla="val 28571"/>
            </a:avLst>
          </a:prstGeom>
          <a:solidFill>
            <a:srgbClr val="B9822C"/>
          </a:solidFill>
          <a:ln w="12700">
            <a:solidFill>
              <a:srgbClr val="B9822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3067812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01368" y="3008376"/>
            <a:ext cx="3611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任一得分超过 P95，但都未超过 P99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" y="3968496"/>
            <a:ext cx="5093208" cy="877824"/>
          </a:xfrm>
          <a:prstGeom prst="roundRect">
            <a:avLst>
              <a:gd name="adj" fmla="val 10417"/>
            </a:avLst>
          </a:prstGeom>
          <a:solidFill>
            <a:srgbClr val="FDE9E9"/>
          </a:solidFill>
          <a:ln w="12700">
            <a:solidFill>
              <a:srgbClr val="FDE9E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169664"/>
            <a:ext cx="777240" cy="384048"/>
          </a:xfrm>
          <a:prstGeom prst="roundRect">
            <a:avLst>
              <a:gd name="adj" fmla="val 28571"/>
            </a:avLst>
          </a:prstGeom>
          <a:solidFill>
            <a:srgbClr val="C74E50"/>
          </a:solidFill>
          <a:ln w="12700">
            <a:solidFill>
              <a:srgbClr val="C74E5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174236"/>
            <a:ext cx="594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801368" y="4114800"/>
            <a:ext cx="36118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任一得分超过 P99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266944"/>
            <a:ext cx="5138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状态偏离得分：看整轮声音有没有偏离正常。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5614416"/>
            <a:ext cx="5129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瞬态偏离得分：看短时间的突发声是否偏离正常。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16752" y="1700784"/>
            <a:ext cx="5513832" cy="4489704"/>
          </a:xfrm>
          <a:prstGeom prst="roundRect">
            <a:avLst>
              <a:gd name="adj" fmla="val 1222"/>
            </a:avLst>
          </a:prstGeom>
          <a:solidFill>
            <a:srgbClr val="FFFFFF"/>
          </a:solidFill>
          <a:ln w="10795">
            <a:solidFill>
              <a:srgbClr val="DBE3E9"/>
            </a:solidFill>
            <a:prstDash val="solid"/>
          </a:ln>
        </p:spPr>
      </p:sp>
      <p:pic>
        <p:nvPicPr>
          <p:cNvPr id="24" name="Image 0" descr="/mnt/data/epb_ppt_assets/monitor_cha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2702" y="1700784"/>
            <a:ext cx="5181932" cy="4489704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5998464" y="6263640"/>
            <a:ext cx="5522976" cy="265176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190488" y="6300216"/>
            <a:ext cx="5084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各项目的 P95 / P99 由自己的正常样本训练得到。</a:t>
            </a:r>
            <a:endParaRPr lang="en-US" sz="11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8F95"/>
          </a:solidFill>
          <a:ln w="12700">
            <a:solidFill>
              <a:srgbClr val="008F9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93776" y="654710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现场工程师操作指南</a:t>
            </a:r>
            <a:endParaRPr lang="en-US" sz="880" dirty="0"/>
          </a:p>
        </p:txBody>
      </p:sp>
      <p:sp>
        <p:nvSpPr>
          <p:cNvPr id="4" name="Text 2"/>
          <p:cNvSpPr/>
          <p:nvPr/>
        </p:nvSpPr>
        <p:spPr>
          <a:xfrm>
            <a:off x="11311128" y="651967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310896"/>
            <a:ext cx="1024128" cy="265176"/>
          </a:xfrm>
          <a:prstGeom prst="roundRect">
            <a:avLst>
              <a:gd name="adj" fmla="val 41379"/>
            </a:avLst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1546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现场速查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02920" y="685800"/>
            <a:ext cx="108813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8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 记住这张表，就能独立操作</a:t>
            </a:r>
            <a:endParaRPr lang="en-US" sz="2580" dirty="0"/>
          </a:p>
        </p:txBody>
      </p:sp>
      <p:sp>
        <p:nvSpPr>
          <p:cNvPr id="8" name="Text 6"/>
          <p:cNvSpPr/>
          <p:nvPr/>
        </p:nvSpPr>
        <p:spPr>
          <a:xfrm>
            <a:off x="512064" y="1124712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6576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不需要理解算法细节；根据界面提示采取下一步。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557784" y="1655064"/>
            <a:ext cx="11155680" cy="438912"/>
          </a:xfrm>
          <a:prstGeom prst="rect">
            <a:avLst/>
          </a:prstGeom>
          <a:solidFill>
            <a:srgbClr val="132C46"/>
          </a:solidFill>
          <a:ln w="12700">
            <a:solidFill>
              <a:srgbClr val="132C4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2376" y="1764792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看到的情况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3282696" y="1764792"/>
            <a:ext cx="3520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下一步做什么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6986016" y="1764792"/>
            <a:ext cx="4709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特别提醒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557784" y="2093976"/>
            <a:ext cx="11155680" cy="62179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219456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刚打开软件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21945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选目录 → 正常模型建立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986016" y="219456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首次建模选新项目；旧项目选已有目录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557784" y="2715768"/>
            <a:ext cx="11155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" y="281635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触发标定进行中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82696" y="281635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60 秒观察 + 15 次完整循环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986016" y="281635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必须看到 15/15 才算完成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557784" y="3337560"/>
            <a:ext cx="11155680" cy="62179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2376" y="34381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正常样本已采够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82696" y="343814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点“训练候选模型”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986016" y="343814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继续采集正常样本不是必做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557784" y="3959352"/>
            <a:ext cx="11155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" y="4059936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候选模型已训练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82696" y="405993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点“开始上线前验证”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986016" y="405993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发现异常或处理错误不能上线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557784" y="4581144"/>
            <a:ext cx="11155680" cy="621792"/>
          </a:xfrm>
          <a:prstGeom prst="rect">
            <a:avLst/>
          </a:prstGeom>
          <a:solidFill>
            <a:srgbClr val="EDF2F5"/>
          </a:solidFill>
          <a:ln w="12700">
            <a:solidFill>
              <a:srgbClr val="EDF2F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2376" y="4681728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验证通过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82696" y="468172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点“确认上线” → “进入实时监控”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6986016" y="468172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上线后才开始正式监控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557784" y="5202936"/>
            <a:ext cx="11155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2376" y="530352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B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运行时显示“关注 / 异常”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82696" y="530352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先看趋势和实时日志，核对保存音频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6986016" y="530352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9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系统辅助判断，不代替工程师检查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566928" y="5989320"/>
            <a:ext cx="11119104" cy="365760"/>
          </a:xfrm>
          <a:prstGeom prst="rect">
            <a:avLst/>
          </a:prstGeom>
          <a:solidFill>
            <a:srgbClr val="E7F4F3"/>
          </a:solidFill>
          <a:ln w="12700">
            <a:solidFill>
              <a:srgbClr val="E7F4F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6071616"/>
            <a:ext cx="10762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074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另外：关闭窗口后，选择原工作目录可继续使用已保存的候选或正式模型，通常无需重新录音训练。</a:t>
            </a:r>
            <a:endParaRPr lang="en-US" sz="1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现场工程培训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EPB 声学状态监控｜现场操作指南</dc:title>
  <dc:subject>面向现场测试工程师的 EPB 声学状态监控使用指南</dc:subject>
  <dc:creator>EPB 声学状态监控项目</dc:creator>
  <cp:lastModifiedBy>EPB 声学状态监控项目</cp:lastModifiedBy>
  <cp:revision>1</cp:revision>
  <dcterms:created xsi:type="dcterms:W3CDTF">2026-10-13T02:54:39Z</dcterms:created>
  <dcterms:modified xsi:type="dcterms:W3CDTF">2026-10-13T02:54:39Z</dcterms:modified>
</cp:coreProperties>
</file>